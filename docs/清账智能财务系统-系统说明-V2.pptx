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419"/>
            <a:ext cx="12191695" cy="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" y="29209"/>
            <a:ext cx="146050" cy="15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清账智能财务系统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65" y="44450"/>
            <a:ext cx="14605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icrosoft YaHei"/>
              </a:rPr>
              <a:t>系统功能说明与上线汇报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65" y="60960"/>
            <a:ext cx="14605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FE0F5"/>
                </a:solidFill>
                <a:latin typeface="Microsoft YaHei"/>
              </a:rPr>
              <a:t>QingZhang Finance   |   2026-09-19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0" y="21590"/>
            <a:ext cx="6350" cy="635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" y="21844"/>
            <a:ext cx="6350" cy="6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80" y="21844"/>
            <a:ext cx="12700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6303E"/>
                </a:solidFill>
                <a:latin typeface="Microsoft YaHei"/>
              </a:rPr>
              <a:t>系统概述与模块地图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0" y="33655"/>
            <a:ext cx="6350" cy="635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" y="33909"/>
            <a:ext cx="6350" cy="6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80" y="33909"/>
            <a:ext cx="12700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6303E"/>
                </a:solidFill>
                <a:latin typeface="Microsoft YaHei"/>
              </a:rPr>
              <a:t>核心业务闭环（应收/应付/费用→凭证→报表）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90" y="45719"/>
            <a:ext cx="6350" cy="635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" y="45974"/>
            <a:ext cx="6350" cy="6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80" y="45974"/>
            <a:ext cx="12700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6303E"/>
                </a:solidFill>
                <a:latin typeface="Microsoft YaHei"/>
              </a:rPr>
              <a:t>各功能模块演示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0" y="57785"/>
            <a:ext cx="6350" cy="635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0" y="58038"/>
            <a:ext cx="6350" cy="6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80" y="58038"/>
            <a:ext cx="12700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6303E"/>
                </a:solidFill>
                <a:latin typeface="Microsoft YaHei"/>
              </a:rPr>
              <a:t>安全审计整改与测试结论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0" y="69850"/>
            <a:ext cx="6350" cy="635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0" y="70104"/>
            <a:ext cx="6350" cy="6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80" y="70104"/>
            <a:ext cx="12700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6303E"/>
                </a:solidFill>
                <a:latin typeface="Microsoft YaHei"/>
              </a:rPr>
              <a:t>上线检查清单与建议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系统概述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业财一体化管理平台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" y="20320"/>
            <a:ext cx="152400" cy="2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303E"/>
                </a:solidFill>
                <a:latin typeface="Microsoft YaHei"/>
              </a:rPr>
              <a:t>覆盖总账、出纳、应收应付、费用、资产、存货、成本、预算、报表、税务、合同、项目与合并报表，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Microsoft YaHei"/>
              </a:rPr>
              <a:t>以审批流串联业务单据，实现“业务单据 → 会计凭证 → 财务报表”的自动闭环。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890" y="45720"/>
            <a:ext cx="35560" cy="2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" y="48260"/>
            <a:ext cx="3556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5EAA"/>
                </a:solidFill>
                <a:latin typeface="Microsoft YaHei"/>
              </a:rPr>
              <a:t>17+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" y="58419"/>
            <a:ext cx="3556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B7684"/>
                </a:solidFill>
                <a:latin typeface="Microsoft YaHei"/>
              </a:rPr>
              <a:t>功能模块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" y="45720"/>
            <a:ext cx="35560" cy="2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60" y="48260"/>
            <a:ext cx="3556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5EAA"/>
                </a:solidFill>
                <a:latin typeface="Microsoft YaHei"/>
              </a:rPr>
              <a:t>5类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" y="58419"/>
            <a:ext cx="3556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B7684"/>
                </a:solidFill>
                <a:latin typeface="Microsoft YaHei"/>
              </a:rPr>
              <a:t>单据自动转凭证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30" y="45720"/>
            <a:ext cx="35560" cy="2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30" y="48260"/>
            <a:ext cx="3556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5EAA"/>
                </a:solidFill>
                <a:latin typeface="Microsoft YaHei"/>
              </a:rPr>
              <a:t>88/88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" y="58419"/>
            <a:ext cx="3556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B7684"/>
                </a:solidFill>
                <a:latin typeface="Microsoft YaHei"/>
              </a:rPr>
              <a:t>回归测试通过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7000" y="45720"/>
            <a:ext cx="35560" cy="2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000" y="48260"/>
            <a:ext cx="3556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5EAA"/>
                </a:solidFill>
                <a:latin typeface="Microsoft YaHei"/>
              </a:rPr>
              <a:t>3大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000" y="58419"/>
            <a:ext cx="3556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B7684"/>
                </a:solidFill>
                <a:latin typeface="Microsoft YaHei"/>
              </a:rPr>
              <a:t>财务报表</a:t>
            </a:r>
          </a:p>
        </p:txBody>
      </p:sp>
      <p:pic>
        <p:nvPicPr>
          <p:cNvPr id="18" name="Picture 17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" y="68580"/>
            <a:ext cx="36576" cy="228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功能模块地图（一）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功能模块地图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" y="2032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" y="2032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95" y="2184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5" y="2730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首页数据看板、待办与快捷入口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25" y="2032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25" y="2032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" y="2184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总账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" y="2730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凭证录入/管理、科目、期间结账、账簿、现金流量、辅助核算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030" y="2032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030" y="2032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205" y="2184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出纳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" y="2730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资金账户、日记账、银行对账、票据管理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" y="37465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" y="37465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95" y="38989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应收账款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" y="44450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客户、销售发票、收款单、核销、账龄分析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25" y="37465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25" y="37465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" y="38989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应付账款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" y="44450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供应商、采购发票、付款单、核销、账龄分析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030" y="37465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030" y="37465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205" y="38989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费用报销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05" y="44450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费用申请、报销、借款与审批付款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0" y="5461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20" y="5461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95" y="5613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固定资产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95" y="6159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资产卡片、类别、折旧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25" y="5461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25" y="5461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00" y="5613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存货核算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" y="6159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物料、出入库、库存核算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3030" y="5461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3030" y="5461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205" y="5613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成本管理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205" y="6159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成本中心、费用归集、成本计算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功能模块地图（二）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功能模块地图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" y="2032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" y="2032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95" y="2184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预算管理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5" y="2730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预算编制、执行、分析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25" y="2032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25" y="2032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" y="2184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审批流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" y="2730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我的待办、审批记录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030" y="2032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030" y="2032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205" y="2184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财务报表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" y="2730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资产负债表、利润表、现金流量表、自定义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" y="37465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" y="37465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95" y="38989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税务管理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" y="44450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增值税申报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25" y="37465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25" y="37465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" y="38989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合同管理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" y="44450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销售/采购合同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030" y="37465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030" y="37465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205" y="38989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项目管理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05" y="44450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项目列表、预算、台账、成本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0" y="5461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20" y="5461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95" y="5613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合并报表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95" y="6159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集团架构、抵消分录、合并底稿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25" y="54610"/>
            <a:ext cx="50165" cy="15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25" y="54610"/>
            <a:ext cx="1524" cy="1524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00" y="56134"/>
            <a:ext cx="4572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系统管理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" y="61595"/>
            <a:ext cx="4572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icrosoft YaHei"/>
              </a:rPr>
              <a:t>用户、角色、菜单、部门、字典、日志、参数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核心业务闭环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业务单据 → 会计凭证 → 财务报表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" y="33020"/>
            <a:ext cx="27940" cy="254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" y="36195"/>
            <a:ext cx="2794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业务单据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" y="43815"/>
            <a:ext cx="25400" cy="12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销售/采购发票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收付款单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费用申请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" y="41910"/>
            <a:ext cx="508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5EAA"/>
                </a:solidFill>
                <a:latin typeface="Microsoft Ya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8735" y="33020"/>
            <a:ext cx="27940" cy="254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35" y="36195"/>
            <a:ext cx="2794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审核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" y="43815"/>
            <a:ext cx="25400" cy="12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职责分离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制单≠审核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" y="41910"/>
            <a:ext cx="508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5EAA"/>
                </a:solidFill>
                <a:latin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" y="33020"/>
            <a:ext cx="27940" cy="254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20" y="36195"/>
            <a:ext cx="2794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生成凭证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" y="43815"/>
            <a:ext cx="25400" cy="12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按科目配置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自动生成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" y="41910"/>
            <a:ext cx="508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5EAA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504" y="33020"/>
            <a:ext cx="27940" cy="254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504" y="36195"/>
            <a:ext cx="2794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过账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4" y="43815"/>
            <a:ext cx="25400" cy="12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计入账簿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期间管理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44" y="41910"/>
            <a:ext cx="508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5EAA"/>
                </a:solidFill>
                <a:latin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890" y="33020"/>
            <a:ext cx="27940" cy="254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890" y="36195"/>
            <a:ext cx="2794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报表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43815"/>
            <a:ext cx="25400" cy="12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资产负债/利润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现金流量/税务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" y="64769"/>
            <a:ext cx="152400" cy="2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03E"/>
                </a:solidFill>
                <a:latin typeface="Microsoft YaHei"/>
              </a:rPr>
              <a:t>示例：销售发票审核后生成凭证  借:应收账款  贷:主营业务收入、应交税费-销项税额；</a:t>
            </a:r>
          </a:p>
          <a:p>
            <a:pPr algn="l"/>
            <a:r>
              <a:rPr sz="1400" b="0">
                <a:solidFill>
                  <a:srgbClr val="26303E"/>
                </a:solidFill>
                <a:latin typeface="Microsoft YaHei"/>
              </a:rPr>
              <a:t>收款核销后应收账款清零；费用审批未付挂其他应付款，付款后冲销。全流程数据自动勾稽，账表一致。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登录与界面布局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第2章  功能演示</a:t>
            </a:r>
          </a:p>
        </p:txBody>
      </p:sp>
      <p:pic>
        <p:nvPicPr>
          <p:cNvPr id="5" name="Picture 4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在浏览器访问系统地址，进入登录页，输入用户名与密码（默认管理员 admin / 123456，首次上线后请立即修改）。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点击【登 录】，校验通过后跳转工作台。勾选【记住我】可在下次自动填充账号。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左侧菜单点击模块展开子菜单，点击子项进入对应功能页；顶部面包屑显示当前位置。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" y="5270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右上角铃铛为消息/待办提醒，点击头像可修改密码或退出登录。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" y="80010"/>
            <a:ext cx="5715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Microsoft YaHei"/>
              </a:rPr>
              <a:t>通用操作约定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总账管理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第3章  功能演示</a:t>
            </a:r>
          </a:p>
        </p:txBody>
      </p:sp>
      <p:pic>
        <p:nvPicPr>
          <p:cNvPr id="5" name="Picture 4" descr="03-voucher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凭证录入：进入【总账-凭证录入】，选择凭证日期与凭证字，逐行录入摘要、科目、借方/贷方金额，借贷必须平衡方可保存。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凭证管理：【凭证管理】列表支持按期间、凭证字、状态筛选；对草稿凭证可编辑、删除，对已提交凭证执行审核。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审核与过账：制单人提交后，由具备审核权限的用户（非制单人）审核，审核通过后方可过账；过账后凭证数据进入账簿与报表。已过账凭证可反过账修改，但需权限控制。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" y="5270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科目管理：维护会计科目体系（编码、名称、余额方向、是否末级），科目是凭证与报表的基础。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" y="6350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会计期间与结账：维护各会计期间的开启/关闭状态；月末执行结账，结账前系统校验是否存在未过账凭证，结账后该期间禁止再录入凭证，并记录结账人与结账时间。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" y="7429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账簿查询：按科目、期间查询总账、明细账、余额表，支持导出。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" y="80010"/>
            <a:ext cx="5715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Microsoft YaHei"/>
              </a:rPr>
              <a:t>凭证状态流转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出纳管理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第4章  功能演示</a:t>
            </a:r>
          </a:p>
        </p:txBody>
      </p:sp>
      <p:pic>
        <p:nvPicPr>
          <p:cNvPr id="5" name="Picture 4" descr="10-cash-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资金账户：维护现金、银行存款等账户，绑定对应会计科目，作为收付款的默认科目来源。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出纳日记账：按账户登记现金与银行收支流水，支持按日期、账户、摘要查询，期末与总账核对。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银行对账：导入银行对账单，与系统银行日记账逐笔勾兑，生成余额调节表，定位未达账项。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" y="5270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票据管理：登记应收/应付票据（承兑汇票等）的开票、背书、贴现、到期托收全生命周期。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应收账款管理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第5章  功能演示</a:t>
            </a:r>
          </a:p>
        </p:txBody>
      </p:sp>
      <p:pic>
        <p:nvPicPr>
          <p:cNvPr id="5" name="Picture 4" descr="14-ar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客户档案：维护客户基础信息、信用额度与默认科目，作为开票与收款的对象。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销售发票：【新增发票】选择客户、开票日期，录入商品行（数量、单价、税率），系统自动计算金额、税额与价税合计；保存后状态为草稿。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审核发票：由非制单人审核发票，审核后确认收入与应收账款。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" y="5270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生成凭证：对已审核发票点击【生成凭证】，系统按配置自动生成凭证：借 应收账款，贷 主营业务收入、应交税费-销项税额。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" y="6350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收款单：登记客户回款，选择结算账户（现金/银行），审核后生成凭证：借 库存现金/银行存款，贷 应收账款。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" y="7429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核销管理：将收款单与发票逐笔核销，核销后发票余额清零、应收账款减少。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" y="80010"/>
            <a:ext cx="5715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Microsoft YaHei"/>
              </a:rPr>
              <a:t>销售发票会计分录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应付账款管理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第6章  功能演示</a:t>
            </a:r>
          </a:p>
        </p:txBody>
      </p:sp>
      <p:pic>
        <p:nvPicPr>
          <p:cNvPr id="5" name="Picture 4" descr="20-ap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供应商档案：维护供应商信息、付款条件与默认科目。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采购发票：【新增发票】选择供应商，录入采购行与税率，自动计算税额与价税合计；保存为草稿。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审核发票：非制单人审核后确认成本/存货与应付账款。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" y="5270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生成凭证：对已审核发票生成凭证：借 库存商品/主营业务成本、应交税费-进项税额，贷 应付账款。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" y="6350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付款单：登记对供应商付款，选择结算账户，审核后生成凭证：借 应付账款，贷 库存现金/银行存款。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" y="7429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核销与账龄：付款单与发票核销清零余额；账龄分析统计应付账龄分布，合理安排付款。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" y="80010"/>
            <a:ext cx="5715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Microsoft YaHei"/>
              </a:rPr>
              <a:t>采购发票会计分录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费用报销管理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第7章  功能演示</a:t>
            </a:r>
          </a:p>
        </p:txBody>
      </p:sp>
      <p:pic>
        <p:nvPicPr>
          <p:cNvPr id="5" name="Picture 4" descr="25-expense-apply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费用申请：员工在【我的申请】点击【申请】，填写费用类型、金额、事由并上传附件，提交进入审批流。申请人由系统按当前登录用户自动带出，不可篡改。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审批：审批人在【审批流-我的待办】中审批通过或驳回，审批记录全程留痕。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付款与凭证：审批通过后，财务对费用单执行付款。未付款（待付）时生成凭证挂账：借 管理费用等，贷 其他应付款（2241）；实际付款后生成：借 其他应付款，贷 库存现金/银行存款。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" y="5270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我的报销/借款：员工查看本人报销与借款记录及审批进度。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" y="80010"/>
            <a:ext cx="5715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Microsoft YaHei"/>
              </a:rPr>
              <a:t>费用凭证口径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资产·存货·成本·预算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第8章  功能演示</a:t>
            </a:r>
          </a:p>
        </p:txBody>
      </p:sp>
      <p:pic>
        <p:nvPicPr>
          <p:cNvPr id="5" name="Picture 4" descr="28-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固定资产：建立资产卡片（原值、使用年限、残值率、折旧方法），按月计提折旧并生成凭证；支持资产类别与变动管理。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存货核算：维护物料档案与仓库，登记采购入库、销售出库等单据，按计价方法核算库存成本。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成本管理：设置成本中心，归集各中心费用，执行成本计算并分摊至产品。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" y="5270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预算管理：编制年度/月度预算，跟踪预算执行，进行预实对比分析，超预算预警。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审批流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第9章  功能演示</a:t>
            </a:r>
          </a:p>
        </p:txBody>
      </p:sp>
      <p:pic>
        <p:nvPicPr>
          <p:cNvPr id="5" name="Picture 4" descr="33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我的待办：展示当前用户待审批事项，点击进入详情，填写意见后【通过】或【驳回】。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审批记录：查询本人发起与参与的全部审批流水，含审批人、时间、意见，便于追溯与审计。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审批配置：管理员可在系统参数中配置各业务类型的审批人与金额阈值。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财务报表与税务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第10章  功能演示</a:t>
            </a:r>
          </a:p>
        </p:txBody>
      </p:sp>
      <p:pic>
        <p:nvPicPr>
          <p:cNvPr id="5" name="Picture 4" descr="34-report-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资产负债表：按会计期间生成，资产=负债+所有者权益恒等校验，支持多期对比与导出。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利润表：按期间汇总收入、成本、费用，计算营业利润与净利润。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现金流量表：按经营/投资/筹资活动列示现金流入流出，与现金流量凭证联动。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" y="5270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自定义报表：按公式自定义取数报表，满足个性化管理需求。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" y="6350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增值税申报：汇总销项与进项，计算应纳税额，生成申报表，与发票数据自动核对。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合同·项目·合并报表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第11章  功能演示</a:t>
            </a:r>
          </a:p>
        </p:txBody>
      </p:sp>
      <p:pic>
        <p:nvPicPr>
          <p:cNvPr id="5" name="Picture 4" descr="38-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合同管理：登记销售/采购合同的金额、收付款计划、履约进度，与应收应付联动。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项目管理：维护项目立项、预算、台账与成本归集，按项目核算投入产出。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合并报表：配置集团架构与合并范围，编制抵消分录，生成合并底稿与合并报表。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系统管理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第12章  功能演示</a:t>
            </a:r>
          </a:p>
        </p:txBody>
      </p:sp>
      <p:pic>
        <p:nvPicPr>
          <p:cNvPr id="5" name="Picture 4" descr="41-sys-user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23812"/>
            <a:ext cx="96519" cy="6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" y="2032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用户管理：新增/编辑用户并分配角色；系统禁止删除自身、禁止删除内置管理员、禁止删除最后一个管理员，防止权限失控。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" y="3111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角色管理：维护角色并勾选菜单权限，实现按角色授权。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" y="4191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菜单/部门/字典：维护功能菜单树、组织架构与数据字典，支撑各模块下拉选项。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" y="52705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系统参数：配置业务科目映射（如应收控制科目、收入科目、税费科目、费用应付科目等）与审批规则。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" y="63500"/>
            <a:ext cx="5715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Microsoft YaHei"/>
              </a:rPr>
              <a:t>• 日志：登录日志与操作日志全程记录，满足审计追溯要求。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安全审计整改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问题 → 措施 → 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" y="19050"/>
            <a:ext cx="762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EAA"/>
                </a:solidFill>
                <a:latin typeface="Microsoft YaHei"/>
              </a:rPr>
              <a:t>已整改（节选）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" y="25400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E"/>
                </a:solidFill>
                <a:latin typeface="Microsoft YaHei"/>
              </a:rPr>
              <a:t>• 用户新增/编辑带角色时报错（ClassCastException）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" y="25400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B7684"/>
                </a:solidFill>
                <a:latin typeface="Microsoft YaHei"/>
              </a:rPr>
              <a:t>SysUserController 角色 ID 解析改为安全的 toLongList()，兼容多种传参  [已修复并回归测试]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" y="34544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E"/>
                </a:solidFill>
                <a:latin typeface="Microsoft YaHei"/>
              </a:rPr>
              <a:t>• 调试接口 /debug/encode 暴露在生产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" y="34544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B7684"/>
                </a:solidFill>
                <a:latin typeface="Microsoft YaHei"/>
              </a:rPr>
              <a:t>SecurityConfig 移除该接口，文档与 Druid 监控路径在生产关闭  [已修复]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" y="43688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E"/>
                </a:solidFill>
                <a:latin typeface="Microsoft YaHei"/>
              </a:rPr>
              <a:t>• 未授权/无权限返回码不规范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90" y="43688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B7684"/>
                </a:solidFill>
                <a:latin typeface="Microsoft YaHei"/>
              </a:rPr>
              <a:t>统一返回 401/403 真实状态码  [已修复]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" y="52832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E"/>
                </a:solidFill>
                <a:latin typeface="Microsoft YaHei"/>
              </a:rPr>
              <a:t>• 可删除自身/内置管理员/最后一个管理员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90" y="52832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B7684"/>
                </a:solidFill>
                <a:latin typeface="Microsoft YaHei"/>
              </a:rPr>
              <a:t>deleteUser 增加自删、admin、最后管理员三重保护  [已修复并测试]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" y="61976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E"/>
                </a:solidFill>
                <a:latin typeface="Microsoft YaHei"/>
              </a:rPr>
              <a:t>• 已审核/已提交凭证仍可删除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" y="61976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B7684"/>
                </a:solidFill>
                <a:latin typeface="Microsoft YaHei"/>
              </a:rPr>
              <a:t>凭证删除拦截 DRAFT 之外状态（APPROVED/SUBMITTED/POSTED 均禁止）  [已修复并测试]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" y="71120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E"/>
                </a:solidFill>
                <a:latin typeface="Microsoft YaHei"/>
              </a:rPr>
              <a:t>• 依赖组件存在已知漏洞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90" y="71120"/>
            <a:ext cx="762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B7684"/>
                </a:solidFill>
                <a:latin typeface="Microsoft YaHei"/>
              </a:rPr>
              <a:t>升级 hutool 5.8.32、fastjson 2.0.53  [已修复]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" y="83820"/>
            <a:ext cx="152400" cy="6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Microsoft YaHei"/>
              </a:rPr>
              <a:t>回归测试 88/88 项断言全部通过；数据库变更已通过幂等脚本 26-audit-fixes.sql 应用。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已识别风险与优化建议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Accepted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" y="21590"/>
            <a:ext cx="1524" cy="1016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95" y="21590"/>
            <a:ext cx="6350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303E"/>
                </a:solidFill>
                <a:latin typeface="Microsoft YaHei"/>
              </a:rPr>
              <a:t>JWT 黑名单存于内存，多实例不共享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21590"/>
            <a:ext cx="8636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684"/>
                </a:solidFill>
                <a:latin typeface="Microsoft YaHei"/>
              </a:rPr>
              <a:t>当前单实例部署，风险可控；扩容时改用 Redis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" y="33655"/>
            <a:ext cx="1524" cy="1016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95" y="33655"/>
            <a:ext cx="6350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303E"/>
                </a:solidFill>
                <a:latin typeface="Microsoft YaHei"/>
              </a:rPr>
              <a:t>单据编号基于时间戳，极端并发可能重复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" y="33655"/>
            <a:ext cx="8636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684"/>
                </a:solidFill>
                <a:latin typeface="Microsoft YaHei"/>
              </a:rPr>
              <a:t>业务量下概率极低；可后续加唯一约束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" y="45720"/>
            <a:ext cx="1524" cy="1016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95" y="45720"/>
            <a:ext cx="6350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303E"/>
                </a:solidFill>
                <a:latin typeface="Microsoft YaHei"/>
              </a:rPr>
              <a:t>税额按简化口径计算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" y="45720"/>
            <a:ext cx="8636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684"/>
                </a:solidFill>
                <a:latin typeface="Microsoft YaHei"/>
              </a:rPr>
              <a:t>满足当前业务；对接税控系统时再细化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" y="57785"/>
            <a:ext cx="1524" cy="1016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95" y="57785"/>
            <a:ext cx="6350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303E"/>
                </a:solidFill>
                <a:latin typeface="Microsoft YaHei"/>
              </a:rPr>
              <a:t>Spring Boot 2.7 已进入维护末期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" y="57785"/>
            <a:ext cx="8636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684"/>
                </a:solidFill>
                <a:latin typeface="Microsoft YaHei"/>
              </a:rPr>
              <a:t>建议规划升级至 3.x 长期支持版本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" y="69850"/>
            <a:ext cx="1524" cy="1016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95" y="69850"/>
            <a:ext cx="6350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303E"/>
                </a:solidFill>
                <a:latin typeface="Microsoft YaHei"/>
              </a:rPr>
              <a:t>默认管理员口令为弱口令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" y="69850"/>
            <a:ext cx="86360" cy="1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684"/>
                </a:solidFill>
                <a:latin typeface="Microsoft YaHei"/>
              </a:rPr>
              <a:t>强烈建议上线前修改 admin 口令并启用强密码策略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" y="4445"/>
            <a:ext cx="139700" cy="8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EAA"/>
                </a:solidFill>
                <a:latin typeface="Microsoft YaHei"/>
              </a:rPr>
              <a:t>上线检查清单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4" y="12700"/>
            <a:ext cx="139700" cy="5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Microsoft YaHei"/>
              </a:rPr>
              <a:t>Go-Live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" y="21590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" y="21844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5" y="21590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修改默认管理员口令，启用强密码与定期更换策略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" y="34925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" y="35179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05" y="34925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确认数据库口令、JWT 密钥仅存在于服务器环境变量，未入库/入代码库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" y="48260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" y="48514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05" y="48260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确认生产关闭 Swagger/Knife4j 与 Druid 监控对外访问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" y="61595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" y="61849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05" y="61595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按角色复核用户授权，落实制单与审核职责分离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" y="74930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" y="75184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05" y="74930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配置各业务类型审批人与金额阈值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630" y="21590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" y="21844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15" y="21590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核对系统参数中的科目映射与实际会计科目一致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630" y="34925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630" y="35179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15" y="34925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完成期初数据导入并试算平衡（借=贷）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630" y="48260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30" y="48514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15" y="48260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执行一次完整月结流程演练（录入→审核→过账→结账→报表）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630" y="61595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30" y="61849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15" y="61595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配置数据库定时备份并验证可恢复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630" y="74930"/>
            <a:ext cx="5080" cy="5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30" y="75184"/>
            <a:ext cx="5080" cy="5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15" y="74930"/>
            <a:ext cx="72390" cy="11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03E"/>
                </a:solidFill>
                <a:latin typeface="Microsoft YaHei"/>
              </a:rPr>
              <a:t>确认 Nginx 启用 HTTPS 与访问日志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" y="35560"/>
            <a:ext cx="146050" cy="12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65" y="50800"/>
            <a:ext cx="146050" cy="7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E0F5"/>
                </a:solidFill>
                <a:latin typeface="Microsoft YaHei"/>
              </a:rPr>
              <a:t>清账智能财务系统 · 已具备上线条件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